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498600"/>
            <a:ext cx="177800" cy="1778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30400"/>
            <a:ext cx="889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EIN ÜBERBLICK FÜR EINSTEIGER — STAND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89200"/>
            <a:ext cx="10160000" cy="190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6200" b="1">
                <a:solidFill>
                  <a:srgbClr val="1C1B18"/>
                </a:solidFill>
                <a:latin typeface="Liter"/>
              </a:rPr>
              <a:t>Die KI-Agenten-</a:t>
            </a:r>
          </a:p>
          <a:p>
            <a:pPr algn="l">
              <a:lnSpc>
                <a:spcPct val="112000"/>
              </a:lnSpc>
            </a:pPr>
            <a:r>
              <a:rPr sz="6200" b="1">
                <a:solidFill>
                  <a:srgbClr val="1C1B18"/>
                </a:solidFill>
                <a:latin typeface="Liter"/>
              </a:rPr>
              <a:t>Landschaft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73600"/>
            <a:ext cx="81280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6E6A60"/>
                </a:solidFill>
                <a:latin typeface="Liter"/>
              </a:rPr>
              <a:t>LLMs, Agent Harnesses, Skills, MCP und Tools — was die Begriffe bedeuten und wie sie zusammenwirken.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969000"/>
            <a:ext cx="103632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172200"/>
            <a:ext cx="76200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0" spc="150">
                <a:solidFill>
                  <a:srgbClr val="6E6A60"/>
                </a:solidFill>
                <a:latin typeface="JetBrains Mono"/>
              </a:rPr>
              <a:t>SIEBEN BAUSTEINE · EIN KREISLAUF · FÜNF REGELN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11200"/>
            <a:ext cx="762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ORIENTIERUNG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05000"/>
            <a:ext cx="10033000" cy="25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3000" b="0">
                <a:solidFill>
                  <a:srgbClr val="1C1B18"/>
                </a:solidFill>
                <a:latin typeface="Liter"/>
              </a:rPr>
              <a:t>Ein KI-Agent ist ein Sprachmodell </a:t>
            </a:r>
            <a:r>
              <a:rPr sz="3000" b="0">
                <a:solidFill>
                  <a:srgbClr val="D9500B"/>
                </a:solidFill>
                <a:latin typeface="Liter"/>
              </a:rPr>
              <a:t>in einer Schleife</a:t>
            </a:r>
            <a:r>
              <a:rPr sz="3000" b="0">
                <a:solidFill>
                  <a:srgbClr val="1C1B18"/>
                </a:solidFill>
                <a:latin typeface="Liter"/>
              </a:rPr>
              <a:t>, das über </a:t>
            </a:r>
            <a:r>
              <a:rPr sz="3000" b="0">
                <a:solidFill>
                  <a:srgbClr val="D9500B"/>
                </a:solidFill>
                <a:latin typeface="Liter"/>
              </a:rPr>
              <a:t>Werkzeuge</a:t>
            </a:r>
            <a:r>
              <a:rPr sz="3000" b="0">
                <a:solidFill>
                  <a:srgbClr val="1C1B18"/>
                </a:solidFill>
                <a:latin typeface="Liter"/>
              </a:rPr>
              <a:t> in der Welt handelt.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53000"/>
            <a:ext cx="8128000" cy="101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6E6A60"/>
                </a:solidFill>
                <a:latin typeface="Liter"/>
              </a:rPr>
              <a:t>Das Modell denkt. Der Harness lenkt. Skills geben Anleitung. MCP verbindet. Tools führen aus.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11200"/>
            <a:ext cx="762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DAS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16000"/>
            <a:ext cx="10160000" cy="508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1C1B18"/>
                </a:solidFill>
                <a:latin typeface="Liter"/>
              </a:rPr>
              <a:t>Sieben Bausteine, ein Kreislauf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01800"/>
            <a:ext cx="762000" cy="254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3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0" y="1828800"/>
            <a:ext cx="660400" cy="66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70400" y="1879600"/>
            <a:ext cx="7620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0400" y="2133600"/>
            <a:ext cx="1524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1C1B18"/>
                </a:solidFill>
                <a:latin typeface="Liter"/>
              </a:rPr>
              <a:t>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0400" y="2463800"/>
            <a:ext cx="1778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E6A60"/>
                </a:solidFill>
                <a:latin typeface="Liter"/>
              </a:rPr>
              <a:t>die Anleitung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38600" y="2717800"/>
            <a:ext cx="0" cy="177800"/>
          </a:xfrm>
          <a:prstGeom prst="line">
            <a:avLst/>
          </a:prstGeom>
          <a:ln w="19050">
            <a:solidFill>
              <a:srgbClr val="6E6A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b1_l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2870200"/>
            <a:ext cx="711200" cy="711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3657600"/>
            <a:ext cx="7620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11600"/>
            <a:ext cx="1905000" cy="304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900" b="1">
                <a:solidFill>
                  <a:srgbClr val="1C1B18"/>
                </a:solidFill>
                <a:latin typeface="Liter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41800"/>
            <a:ext cx="1905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E6A60"/>
                </a:solidFill>
                <a:latin typeface="Liter"/>
              </a:rPr>
              <a:t>das Gehirn</a:t>
            </a:r>
          </a:p>
        </p:txBody>
      </p:sp>
      <p:pic>
        <p:nvPicPr>
          <p:cNvPr id="14" name="Picture 13" descr="b2_har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400" y="2870200"/>
            <a:ext cx="711200" cy="711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759200" y="3657600"/>
            <a:ext cx="7620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9200" y="3911600"/>
            <a:ext cx="1905000" cy="304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900" b="1">
                <a:solidFill>
                  <a:srgbClr val="1C1B18"/>
                </a:solidFill>
                <a:latin typeface="Liter"/>
              </a:rPr>
              <a:t>Harness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9200" y="4241800"/>
            <a:ext cx="1905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E6A60"/>
                </a:solidFill>
                <a:latin typeface="Liter"/>
              </a:rPr>
              <a:t>die Schleife</a:t>
            </a:r>
          </a:p>
        </p:txBody>
      </p:sp>
      <p:pic>
        <p:nvPicPr>
          <p:cNvPr id="18" name="Picture 17" descr="b4_mc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2870200"/>
            <a:ext cx="711200" cy="711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04000" y="3657600"/>
            <a:ext cx="7620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4000" y="3911600"/>
            <a:ext cx="1905000" cy="304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900" b="1">
                <a:solidFill>
                  <a:srgbClr val="1C1B18"/>
                </a:solidFill>
                <a:latin typeface="Liter"/>
              </a:rPr>
              <a:t>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4000" y="4241800"/>
            <a:ext cx="2159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E6A60"/>
                </a:solidFill>
                <a:latin typeface="Liter"/>
              </a:rPr>
              <a:t>die Steckverbindung</a:t>
            </a:r>
          </a:p>
        </p:txBody>
      </p:sp>
      <p:pic>
        <p:nvPicPr>
          <p:cNvPr id="22" name="Picture 21" descr="b5_too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0" y="2870200"/>
            <a:ext cx="711200" cy="711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48800" y="3657600"/>
            <a:ext cx="7620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8800" y="3911600"/>
            <a:ext cx="1905000" cy="304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900" b="1">
                <a:solidFill>
                  <a:srgbClr val="1C1B18"/>
                </a:solidFill>
                <a:latin typeface="Liter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800" y="4241800"/>
            <a:ext cx="1905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E6A60"/>
                </a:solidFill>
                <a:latin typeface="Liter"/>
              </a:rPr>
              <a:t>die Ausführung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19400" y="4038600"/>
            <a:ext cx="838200" cy="0"/>
          </a:xfrm>
          <a:prstGeom prst="line">
            <a:avLst/>
          </a:prstGeom>
          <a:ln w="19050">
            <a:solidFill>
              <a:srgbClr val="6E6A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64200" y="4038600"/>
            <a:ext cx="838200" cy="0"/>
          </a:xfrm>
          <a:prstGeom prst="line">
            <a:avLst/>
          </a:prstGeom>
          <a:ln w="19050">
            <a:solidFill>
              <a:srgbClr val="6E6A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09000" y="4038600"/>
            <a:ext cx="838200" cy="0"/>
          </a:xfrm>
          <a:prstGeom prst="line">
            <a:avLst/>
          </a:prstGeom>
          <a:ln w="19050">
            <a:solidFill>
              <a:srgbClr val="6E6A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4978400"/>
            <a:ext cx="100330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Der Harness fragt das LLM, ruft über MCP ein Tool, und das Ergebnis fließt zurück ans Modell — Runde für Runde, bis die Aufgabe erledigt ist.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6E6A60"/>
                </a:solidFill>
                <a:latin typeface="Liter"/>
              </a:rPr>
              <a:t>Baustein 06 (Medien-Modelle) und 07 (Design-Tools) hängen an denselben Werkzeugen — sie folgen auf den nächsten Seiten.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06600"/>
            <a:ext cx="177800" cy="1778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0000" y="1981200"/>
            <a:ext cx="6350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01 / 07 — LARGE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13000"/>
            <a:ext cx="5588000" cy="812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5000" b="1">
                <a:solidFill>
                  <a:srgbClr val="1C1B18"/>
                </a:solidFill>
                <a:latin typeface="Liter"/>
              </a:rPr>
              <a:t>Das Sprachmodell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03600"/>
            <a:ext cx="5080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6A60"/>
                </a:solidFill>
                <a:latin typeface="Liter"/>
              </a:rPr>
              <a:t>Das Gehirn des Agenten: Es versteht die Anfrage, plant die Schritte und formuliert die Antwort.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67200"/>
            <a:ext cx="5080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70400"/>
            <a:ext cx="508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0" spc="150">
                <a:solidFill>
                  <a:srgbClr val="6E6A60"/>
                </a:solidFill>
                <a:latin typeface="JetBrains Mono"/>
              </a:rPr>
              <a:t>GEHOSTET · OFFEN · LOKAL</a:t>
            </a:r>
          </a:p>
        </p:txBody>
      </p:sp>
      <p:pic>
        <p:nvPicPr>
          <p:cNvPr id="8" name="Picture 7" descr="b1_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19200"/>
            <a:ext cx="4419600" cy="441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11200"/>
            <a:ext cx="889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1 — LARGE LANGUAGE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16000"/>
            <a:ext cx="10160000" cy="508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1C1B18"/>
                </a:solidFill>
                <a:latin typeface="Liter"/>
              </a:rPr>
              <a:t>Das LLM denkt — mehr nicht.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01800"/>
            <a:ext cx="762000" cy="254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3810000"/>
            <a:ext cx="2794000" cy="241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7000" b="1">
                <a:solidFill>
                  <a:srgbClr val="E9E4D6"/>
                </a:solidFill>
                <a:latin typeface="Li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7493000" cy="1079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5000"/>
              </a:lnSpc>
            </a:pPr>
            <a:r>
              <a:rPr sz="1500" b="0">
                <a:solidFill>
                  <a:srgbClr val="1C1B18"/>
                </a:solidFill>
                <a:latin typeface="Liter"/>
              </a:rPr>
              <a:t>Ein Large Language Model versteht die Anfrage, plant die nächsten Schritte und formuliert Antworten. Ohne Werkzeuge kann es nichts in der Welt verändern.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81400"/>
            <a:ext cx="635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0" spc="150">
                <a:solidFill>
                  <a:srgbClr val="6E6A60"/>
                </a:solidFill>
                <a:latin typeface="JetBrains Mono"/>
              </a:rPr>
              <a:t>DIE GEHOSTETE FRONTIER — CLOSED, NUR PER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62400"/>
            <a:ext cx="6604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1C1B18"/>
                </a:solidFill>
                <a:latin typeface="Liter"/>
              </a:rPr>
              <a:t>GPT-5.6 — OpenAI · starker Allrounder (ChatGPT)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343400"/>
            <a:ext cx="6604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70400"/>
            <a:ext cx="6604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1C1B18"/>
                </a:solidFill>
                <a:latin typeface="Liter"/>
              </a:rPr>
              <a:t>Claude Opus 5 / Sonnet 5 — Anthropic · stark bei Agenten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851400"/>
            <a:ext cx="6604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78400"/>
            <a:ext cx="6604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1C1B18"/>
                </a:solidFill>
                <a:latin typeface="Liter"/>
              </a:rPr>
              <a:t>Gemini 3.1 Pro — Google · multimodal, riesiger Kontext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359400"/>
            <a:ext cx="6604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6604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1C1B18"/>
                </a:solidFill>
                <a:latin typeface="Liter"/>
              </a:rPr>
              <a:t>Grok 4.5 — xAI · coding-stark, in X integriert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070600"/>
            <a:ext cx="762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0" spc="150">
                <a:solidFill>
                  <a:srgbClr val="6E6A60"/>
                </a:solidFill>
                <a:latin typeface="JetBrains Mono"/>
              </a:rPr>
              <a:t>STAND AUGUST 2026 — VERSIONEN ÄNDERN SICH LAUFEND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11200"/>
            <a:ext cx="889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1 — DIE WICHTIGSTE WAHL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16000"/>
            <a:ext cx="10160000" cy="508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1C1B18"/>
                </a:solidFill>
                <a:latin typeface="Liter"/>
              </a:rPr>
              <a:t>Offene Gewichte oder geschlossene API?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01800"/>
            <a:ext cx="762000" cy="254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7600" y="2133600"/>
            <a:ext cx="12700" cy="30480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33600"/>
            <a:ext cx="4826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D9500B"/>
                </a:solidFill>
                <a:latin typeface="Liter"/>
              </a:rPr>
              <a:t>OPEN-WEIGHT — FREI VERFÜGBAR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38400"/>
            <a:ext cx="4826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E6A60"/>
                </a:solidFill>
                <a:latin typeface="Liter"/>
              </a:rPr>
              <a:t>Lokal oder beim Hoster deiner Wahl betreibbar — volle Kontrolle über Daten.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48000"/>
            <a:ext cx="4953000" cy="2159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Kimi K3 — Moonshot AI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DeepSeek V4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GLM-5.2 — Z.AI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Qwen 3.6 / 3.8 — Alibaba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gpt-oss — OpenAI · Mistral Large 3 — EU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Llama 4 — Meta · Ornith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4800" y="2133600"/>
            <a:ext cx="4826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1C1B18"/>
                </a:solidFill>
                <a:latin typeface="Liter"/>
              </a:rPr>
              <a:t>CLOSED — NUR PER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4800" y="2438400"/>
            <a:ext cx="4826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E6A60"/>
                </a:solidFill>
                <a:latin typeface="Liter"/>
              </a:rPr>
              <a:t>Stärkste Leistung ohne Aufwand — aber die Daten laufen über den Anbieter.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4800" y="3048000"/>
            <a:ext cx="4953000" cy="2159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GPT-5.6 — OpenAI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Claude Opus 5 — Anthropic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Gemini 3.1 Pro — Google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Grok 4.5 — xAI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Qwen3.8-Max — Alibaba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37200"/>
            <a:ext cx="10160000" cy="71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5000"/>
              </a:lnSpc>
            </a:pPr>
            <a:r>
              <a:rPr sz="1400" b="1">
                <a:solidFill>
                  <a:srgbClr val="1C1B18"/>
                </a:solidFill>
                <a:latin typeface="Liter"/>
              </a:rPr>
              <a:t>2026 spielen offene Modelle erstmals fast auf Frontier-Niveau.</a:t>
            </a:r>
            <a:r>
              <a:rPr sz="1400" b="0">
                <a:solidFill>
                  <a:srgbClr val="1C1B18"/>
                </a:solidFill>
                <a:latin typeface="Liter"/>
              </a:rPr>
              <a:t> </a:t>
            </a:r>
            <a:r>
              <a:rPr sz="1400" b="0">
                <a:solidFill>
                  <a:srgbClr val="6E6A60"/>
                </a:solidFill>
                <a:latin typeface="Liter"/>
              </a:rPr>
              <a:t>Die Wahl lautet: Kontrolle und Datenschutz — oder Bequemlichkeit und Spitze ohne Aufwand.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11200"/>
            <a:ext cx="889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1 — LOKAL STATT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16000"/>
            <a:ext cx="10160000" cy="508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1C1B18"/>
                </a:solidFill>
                <a:latin typeface="Liter"/>
              </a:rPr>
              <a:t>Eigenes Modell, eigene Hardware.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01800"/>
            <a:ext cx="762000" cy="254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88900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5000"/>
              </a:lnSpc>
            </a:pPr>
            <a:r>
              <a:rPr sz="1500" b="0">
                <a:solidFill>
                  <a:srgbClr val="1C1B18"/>
                </a:solidFill>
                <a:latin typeface="Liter"/>
              </a:rPr>
              <a:t>Open-Weight-Modelle laufen auf dem eigenen Rechner: </a:t>
            </a:r>
            <a:r>
              <a:rPr sz="1500" b="1">
                <a:solidFill>
                  <a:srgbClr val="1C1B18"/>
                </a:solidFill>
                <a:latin typeface="Liter"/>
              </a:rPr>
              <a:t>privat, offline, ohne Kosten pro Anfrage.</a:t>
            </a:r>
            <a:r>
              <a:rPr sz="1500" b="0">
                <a:solidFill>
                  <a:srgbClr val="1C1B18"/>
                </a:solidFill>
                <a:latin typeface="Liter"/>
              </a:rPr>
              <a:t> Der Preis: leistungsstarke Hardware und etwas Einrichtung.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635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0" spc="150">
                <a:solidFill>
                  <a:srgbClr val="6E6A60"/>
                </a:solidFill>
                <a:latin typeface="JetBrains Mono"/>
              </a:rPr>
              <a:t>DIE LAUFZEITEN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81400"/>
            <a:ext cx="7620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1C1B18"/>
                </a:solidFill>
                <a:latin typeface="Liter"/>
              </a:rPr>
              <a:t>LM Studio — der GUI-Standard für Einsteiger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62400"/>
            <a:ext cx="7620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89400"/>
            <a:ext cx="7620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1C1B18"/>
                </a:solidFill>
                <a:latin typeface="Liter"/>
              </a:rPr>
              <a:t>Ollama — CLI- und Server-Standard, riesige Bibliothek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470400"/>
            <a:ext cx="7620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97400"/>
            <a:ext cx="7620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1C1B18"/>
                </a:solidFill>
                <a:latin typeface="Liter"/>
              </a:rPr>
              <a:t>llama.cpp — die Basis, läuft sogar auf der CPU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978400"/>
            <a:ext cx="7620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05400"/>
            <a:ext cx="7620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1C1B18"/>
                </a:solidFill>
                <a:latin typeface="Liter"/>
              </a:rPr>
              <a:t>vLLM / SGLang — Serving für viele Nutzer gleichzeitig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40400"/>
            <a:ext cx="9652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A60"/>
                </a:solidFill>
                <a:latin typeface="Liter"/>
              </a:rPr>
              <a:t>Grenze: Große Modelle brauchen viel GPU-Speicher. Kleine Open-Weight-Modelle laufen auf jedem Laptop.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06600"/>
            <a:ext cx="177800" cy="1778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0000" y="1981200"/>
            <a:ext cx="6350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02 / 07 — AGENT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13000"/>
            <a:ext cx="5588000" cy="812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5000" b="1">
                <a:solidFill>
                  <a:srgbClr val="1C1B18"/>
                </a:solidFill>
                <a:latin typeface="Liter"/>
              </a:rPr>
              <a:t>Der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03600"/>
            <a:ext cx="5080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6A60"/>
                </a:solidFill>
                <a:latin typeface="Liter"/>
              </a:rPr>
              <a:t>Die Schleife um das Modell: Sie ruft es auf, hält den Kontext und führt Werkzeugaufrufe aus.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67200"/>
            <a:ext cx="5080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70400"/>
            <a:ext cx="508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0" spc="150">
                <a:solidFill>
                  <a:srgbClr val="6E6A60"/>
                </a:solidFill>
                <a:latin typeface="JetBrains Mono"/>
              </a:rPr>
              <a:t>CLI · IDE · FRAMEWORKS</a:t>
            </a:r>
          </a:p>
        </p:txBody>
      </p:sp>
      <p:pic>
        <p:nvPicPr>
          <p:cNvPr id="8" name="Picture 7" descr="b2_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19200"/>
            <a:ext cx="4419600" cy="441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11200"/>
            <a:ext cx="889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2 — AGENT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16000"/>
            <a:ext cx="10160000" cy="508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1C1B18"/>
                </a:solidFill>
                <a:latin typeface="Liter"/>
              </a:rPr>
              <a:t>Der Harness ist die Schleife.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01800"/>
            <a:ext cx="762000" cy="254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3810000"/>
            <a:ext cx="2794000" cy="241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7000" b="1">
                <a:solidFill>
                  <a:srgbClr val="E9E4D6"/>
                </a:solidFill>
                <a:latin typeface="Lite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8382000" cy="1079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5000"/>
              </a:lnSpc>
            </a:pPr>
            <a:r>
              <a:rPr sz="1500" b="0">
                <a:solidFill>
                  <a:srgbClr val="1C1B18"/>
                </a:solidFill>
                <a:latin typeface="Liter"/>
              </a:rPr>
              <a:t>Der Harness ruft das Modell wiederholt auf, hält den Kontext, entscheidet den nächsten Schritt und führt Werkzeugaufrufe aus. </a:t>
            </a:r>
            <a:r>
              <a:rPr sz="1500" b="1">
                <a:solidFill>
                  <a:srgbClr val="1C1B18"/>
                </a:solidFill>
                <a:latin typeface="Liter"/>
              </a:rPr>
              <a:t>Er macht aus einem Modell einen Agenten.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54400"/>
            <a:ext cx="635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0" spc="150">
                <a:solidFill>
                  <a:srgbClr val="6E6A60"/>
                </a:solidFill>
                <a:latin typeface="JetBrains Mono"/>
              </a:rPr>
              <a:t>DIE BEKANNTESTEN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10000"/>
            <a:ext cx="4699000" cy="190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Claude Code / Agent SDK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OpenAI Codex + Agents SDK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Kimi Code — Moonshot AI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ZCode — Z.AI · Zed — Editor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Hermes Agent — Nous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9000" y="3810000"/>
            <a:ext cx="4699000" cy="190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Odysseus — self-hosted Workspace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Bionic — LM Studio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LangGraph / LangChain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CrewAI · Paperclip</a:t>
            </a:r>
          </a:p>
          <a:p>
            <a:pPr algn="l">
              <a:lnSpc>
                <a:spcPct val="185000"/>
              </a:lnSpc>
            </a:pPr>
            <a:r>
              <a:rPr sz="1400" b="0">
                <a:solidFill>
                  <a:srgbClr val="6E6A60"/>
                </a:solidFill>
                <a:latin typeface="Liter"/>
              </a:rPr>
              <a:t>u. a. MS Agent Framework, Google ADK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11200"/>
            <a:ext cx="889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2 — WIE DER AGENT ARBEITET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16000"/>
            <a:ext cx="10160000" cy="508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1C1B18"/>
                </a:solidFill>
                <a:latin typeface="Liter"/>
              </a:rPr>
              <a:t>Denken, handeln, beobachten.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01800"/>
            <a:ext cx="762000" cy="254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40000"/>
            <a:ext cx="7620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SCHRITT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44800"/>
            <a:ext cx="2540000" cy="330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000" b="1">
                <a:solidFill>
                  <a:srgbClr val="1C1B18"/>
                </a:solidFill>
                <a:latin typeface="Liter"/>
              </a:rPr>
              <a:t>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51200"/>
            <a:ext cx="2667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A60"/>
                </a:solidFill>
                <a:latin typeface="Liter"/>
              </a:rPr>
              <a:t>Das LLM plant den nächsten Schritt.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3600" y="2540000"/>
            <a:ext cx="7620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SCHRITT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2844800"/>
            <a:ext cx="2540000" cy="330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000" b="1">
                <a:solidFill>
                  <a:srgbClr val="1C1B18"/>
                </a:solidFill>
                <a:latin typeface="Liter"/>
              </a:rPr>
              <a:t>Handeln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600" y="3251200"/>
            <a:ext cx="2667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A60"/>
                </a:solidFill>
                <a:latin typeface="Liter"/>
              </a:rPr>
              <a:t>Der Harness ruft ein Tool auf.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2800" y="2540000"/>
            <a:ext cx="7620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SCHRITT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2800" y="2844800"/>
            <a:ext cx="2794000" cy="330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000" b="1">
                <a:solidFill>
                  <a:srgbClr val="1C1B18"/>
                </a:solidFill>
                <a:latin typeface="Liter"/>
              </a:rPr>
              <a:t>Beobachten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2800" y="3251200"/>
            <a:ext cx="2794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A60"/>
                </a:solidFill>
                <a:latin typeface="Liter"/>
              </a:rPr>
              <a:t>Das Ergebnis fließt zurück.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83000" y="2997200"/>
            <a:ext cx="787400" cy="0"/>
          </a:xfrm>
          <a:prstGeom prst="line">
            <a:avLst/>
          </a:prstGeom>
          <a:ln w="19050">
            <a:solidFill>
              <a:srgbClr val="1C1B1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42200" y="2997200"/>
            <a:ext cx="787400" cy="0"/>
          </a:xfrm>
          <a:prstGeom prst="line">
            <a:avLst/>
          </a:prstGeom>
          <a:ln w="19050">
            <a:solidFill>
              <a:srgbClr val="1C1B1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779000" y="3886200"/>
            <a:ext cx="0" cy="965200"/>
          </a:xfrm>
          <a:prstGeom prst="line">
            <a:avLst/>
          </a:prstGeom>
          <a:ln w="19050">
            <a:solidFill>
              <a:srgbClr val="D95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260600" y="4851400"/>
            <a:ext cx="7518400" cy="0"/>
          </a:xfrm>
          <a:prstGeom prst="line">
            <a:avLst/>
          </a:prstGeom>
          <a:ln w="19050">
            <a:solidFill>
              <a:srgbClr val="D95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260600" y="3937000"/>
            <a:ext cx="0" cy="914400"/>
          </a:xfrm>
          <a:prstGeom prst="line">
            <a:avLst/>
          </a:prstGeom>
          <a:ln w="19050">
            <a:solidFill>
              <a:srgbClr val="D950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73600" y="4470400"/>
            <a:ext cx="2794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00" b="0" spc="150">
                <a:solidFill>
                  <a:srgbClr val="D9500B"/>
                </a:solidFill>
                <a:latin typeface="JetBrains Mono"/>
              </a:rPr>
              <a:t>NEUE INFORMATION FÜRS MODELL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537200"/>
            <a:ext cx="10033000" cy="63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Der Kreislauf läuft, bis die Aufgabe erledigt ist — manchmal zwei Runden, manchmal zweihundert. </a:t>
            </a:r>
            <a:r>
              <a:rPr sz="1400" b="0">
                <a:solidFill>
                  <a:srgbClr val="6E6A60"/>
                </a:solidFill>
                <a:latin typeface="Liter"/>
              </a:rPr>
              <a:t>Jede Runde kostet Tokens.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06600"/>
            <a:ext cx="177800" cy="1778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0000" y="1981200"/>
            <a:ext cx="6350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03 / 07 —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13000"/>
            <a:ext cx="5588000" cy="812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5000" b="1">
                <a:solidFill>
                  <a:srgbClr val="1C1B18"/>
                </a:solidFill>
                <a:latin typeface="Liter"/>
              </a:rPr>
              <a:t>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03600"/>
            <a:ext cx="5080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6A60"/>
                </a:solidFill>
                <a:latin typeface="Liter"/>
              </a:rPr>
              <a:t>Anleitungen zum Mitnehmen: Fachwissen, Abläufe und Stilregeln als Paket — geladen nur bei Bedarf.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67200"/>
            <a:ext cx="5080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70400"/>
            <a:ext cx="508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0" spc="150">
                <a:solidFill>
                  <a:srgbClr val="6E6A60"/>
                </a:solidFill>
                <a:latin typeface="JetBrains Mono"/>
              </a:rPr>
              <a:t>SKILL.MD · STANDARDS · MARKTPLÄTZE</a:t>
            </a:r>
          </a:p>
        </p:txBody>
      </p:sp>
      <p:pic>
        <p:nvPicPr>
          <p:cNvPr id="8" name="Picture 7" descr="b3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19200"/>
            <a:ext cx="4419600" cy="441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11200"/>
            <a:ext cx="889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3 —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16000"/>
            <a:ext cx="10160000" cy="508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1C1B18"/>
                </a:solidFill>
                <a:latin typeface="Liter"/>
              </a:rPr>
              <a:t>Skills sind Anleitungen zum Mitnehmen.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01800"/>
            <a:ext cx="762000" cy="254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3810000"/>
            <a:ext cx="2794000" cy="241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7000" b="1">
                <a:solidFill>
                  <a:srgbClr val="E9E4D6"/>
                </a:solidFill>
                <a:latin typeface="Liter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8128000" cy="1079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5000"/>
              </a:lnSpc>
            </a:pPr>
            <a:r>
              <a:rPr sz="1500" b="0">
                <a:solidFill>
                  <a:srgbClr val="1C1B18"/>
                </a:solidFill>
                <a:latin typeface="Liter"/>
              </a:rPr>
              <a:t>Ein Skill ist ein Paket: eine </a:t>
            </a:r>
            <a:r>
              <a:rPr sz="1500" b="1">
                <a:solidFill>
                  <a:srgbClr val="1C1B18"/>
                </a:solidFill>
                <a:latin typeface="Liter"/>
              </a:rPr>
              <a:t>SKILL.md</a:t>
            </a:r>
            <a:r>
              <a:rPr sz="1500" b="0">
                <a:solidFill>
                  <a:srgbClr val="1C1B18"/>
                </a:solidFill>
                <a:latin typeface="Liter"/>
              </a:rPr>
              <a:t>-Datei plus Zusatzmaterial — Fachwissen, Abläufe, Stilregeln. Der Agent lädt es nur bei Bedarf in seinen Kontext. Das spart Tokens.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0600"/>
            <a:ext cx="635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0" spc="150">
                <a:solidFill>
                  <a:srgbClr val="6E6A60"/>
                </a:solidFill>
                <a:latin typeface="JetBrains Mono"/>
              </a:rPr>
              <a:t>WO ES SKILLS GIBT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1600"/>
            <a:ext cx="7112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1C1B18"/>
                </a:solidFill>
                <a:latin typeface="Liter"/>
              </a:rPr>
              <a:t>Anthropic Agent Skills — fertige Pakete für Office &amp; 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92600"/>
            <a:ext cx="7112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19600"/>
            <a:ext cx="7112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1C1B18"/>
                </a:solidFill>
                <a:latin typeface="Liter"/>
              </a:rPr>
              <a:t>agentskills.io — der offene Standard, 40+ Produkte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800600"/>
            <a:ext cx="7112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27600"/>
            <a:ext cx="7112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1C1B18"/>
                </a:solidFill>
                <a:latin typeface="Liter"/>
              </a:rPr>
              <a:t>skills.sh — der Community-Marktplatz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308600"/>
            <a:ext cx="7112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35600"/>
            <a:ext cx="7112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00" b="0">
                <a:solidFill>
                  <a:srgbClr val="1C1B18"/>
                </a:solidFill>
                <a:latin typeface="Liter"/>
              </a:rPr>
              <a:t>Unternehmens-Skills — eigenes Know-how als Paket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94400"/>
            <a:ext cx="9652000" cy="254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D9500B"/>
                </a:solidFill>
                <a:latin typeface="Liter"/>
              </a:rPr>
              <a:t>Faustregel: Skills liefern Wissen — MCP liefert Zugriff.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06600"/>
            <a:ext cx="177800" cy="1778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0000" y="1981200"/>
            <a:ext cx="6350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04 / 07 — MODEL CONTEXT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13000"/>
            <a:ext cx="5588000" cy="812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5000" b="1">
                <a:solidFill>
                  <a:srgbClr val="1C1B18"/>
                </a:solidFill>
                <a:latin typeface="Liter"/>
              </a:rPr>
              <a:t>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03600"/>
            <a:ext cx="5080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6A60"/>
                </a:solidFill>
                <a:latin typeface="Liter"/>
              </a:rPr>
              <a:t>Die Steckverbindung: Ein offener Standard, über den jeder Agent jedes Werkzeug auf dieselbe Weise erreicht.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67200"/>
            <a:ext cx="5080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70400"/>
            <a:ext cx="508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0" spc="150">
                <a:solidFill>
                  <a:srgbClr val="6E6A60"/>
                </a:solidFill>
                <a:latin typeface="JetBrains Mono"/>
              </a:rPr>
              <a:t>SERVER · VERTRAUEN · LINUX FOUNDATION</a:t>
            </a:r>
          </a:p>
        </p:txBody>
      </p:sp>
      <p:pic>
        <p:nvPicPr>
          <p:cNvPr id="8" name="Picture 7" descr="b4_m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19200"/>
            <a:ext cx="4419600" cy="441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11200"/>
            <a:ext cx="889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4 — MODEL CONTEXT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16000"/>
            <a:ext cx="10160000" cy="508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1C1B18"/>
                </a:solidFill>
                <a:latin typeface="Liter"/>
              </a:rPr>
              <a:t>MCP ist das USB-C der KI.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01800"/>
            <a:ext cx="762000" cy="254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3810000"/>
            <a:ext cx="2794000" cy="241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7000" b="1">
                <a:solidFill>
                  <a:srgbClr val="E9E4D6"/>
                </a:solidFill>
                <a:latin typeface="Liter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8128000" cy="1079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5000"/>
              </a:lnSpc>
            </a:pPr>
            <a:r>
              <a:rPr sz="1500" b="0">
                <a:solidFill>
                  <a:srgbClr val="1C1B18"/>
                </a:solidFill>
                <a:latin typeface="Liter"/>
              </a:rPr>
              <a:t>Ein offener Standard — getragen von der Linux Foundation — über den jeder Agent jedes Werkzeug und jede Datenquelle </a:t>
            </a:r>
            <a:r>
              <a:rPr sz="1500" b="1">
                <a:solidFill>
                  <a:srgbClr val="1C1B18"/>
                </a:solidFill>
                <a:latin typeface="Liter"/>
              </a:rPr>
              <a:t>auf dieselbe Weise</a:t>
            </a:r>
            <a:r>
              <a:rPr sz="1500" b="0">
                <a:solidFill>
                  <a:srgbClr val="1C1B18"/>
                </a:solidFill>
                <a:latin typeface="Liter"/>
              </a:rPr>
              <a:t> erreicht. Über 9.800 Server im Index.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0600"/>
            <a:ext cx="635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0" spc="150">
                <a:solidFill>
                  <a:srgbClr val="6E6A60"/>
                </a:solidFill>
                <a:latin typeface="JetBrains Mono"/>
              </a:rPr>
              <a:t>BEKANNTE MCP-SERVER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4699000" cy="15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Playwright — Browser steuern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GitHub — Repos, PRs, Issues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Filesystem — lokale Dateien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9000" y="3886200"/>
            <a:ext cx="4826000" cy="15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Slack — Nachrichten lesen &amp; posten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Postgres / Supabase — Datenbanken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Google Drive — Dokumente &amp; Kalender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40400"/>
            <a:ext cx="9652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A60"/>
                </a:solidFill>
                <a:latin typeface="Liter"/>
              </a:rPr>
              <a:t>Achtung: Nur vertrauenswürdige Server installieren — ein bösartiger Server kann den Agenten manipulieren.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06600"/>
            <a:ext cx="177800" cy="1778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0000" y="1981200"/>
            <a:ext cx="6350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05 / 07 —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13000"/>
            <a:ext cx="5588000" cy="812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5000" b="1">
                <a:solidFill>
                  <a:srgbClr val="1C1B18"/>
                </a:solidFill>
                <a:latin typeface="Liter"/>
              </a:rPr>
              <a:t>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03600"/>
            <a:ext cx="5080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6A60"/>
                </a:solidFill>
                <a:latin typeface="Liter"/>
              </a:rPr>
              <a:t>Die Hände des Agenten: Werkzeuge führen aus, was das Modell beschließt — von der Suche bis zur Datenbank.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67200"/>
            <a:ext cx="5080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70400"/>
            <a:ext cx="508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0" spc="150">
                <a:solidFill>
                  <a:srgbClr val="6E6A60"/>
                </a:solidFill>
                <a:latin typeface="JetBrains Mono"/>
              </a:rPr>
              <a:t>SUCHE · CODE · DATEN · KOMMUNIKATION</a:t>
            </a:r>
          </a:p>
        </p:txBody>
      </p:sp>
      <p:pic>
        <p:nvPicPr>
          <p:cNvPr id="8" name="Picture 7" descr="b5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19200"/>
            <a:ext cx="4419600" cy="441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11200"/>
            <a:ext cx="889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5 —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16000"/>
            <a:ext cx="10160000" cy="508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1C1B18"/>
                </a:solidFill>
                <a:latin typeface="Liter"/>
              </a:rPr>
              <a:t>Tools sind die Hände des Agenten.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01800"/>
            <a:ext cx="762000" cy="254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3810000"/>
            <a:ext cx="2794000" cy="241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7000" b="1">
                <a:solidFill>
                  <a:srgbClr val="E9E4D6"/>
                </a:solidFill>
                <a:latin typeface="Liter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81280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5000"/>
              </a:lnSpc>
            </a:pPr>
            <a:r>
              <a:rPr sz="1500" b="0">
                <a:solidFill>
                  <a:srgbClr val="1C1B18"/>
                </a:solidFill>
                <a:latin typeface="Liter"/>
              </a:rPr>
              <a:t>Werkzeuge führen aus, was das Modell beschließt. Der Harness ruft sie auf — direkt oder standardisiert über MCP.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4699000" cy="2159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Websuche — aktuelle Informationen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Code-Ausführung — sicher testen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Dateisystem — lesen &amp; schreiben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Browser — Webseiten bedienen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9000" y="3200400"/>
            <a:ext cx="4826000" cy="2159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Datenbanken — strukturierte Daten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Kommunikation — E-Mail, Kalender, Slack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Medien-Generierung — Bild, Video, Audio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6E6A60"/>
                </a:solidFill>
                <a:latin typeface="Liter"/>
              </a:rPr>
              <a:t>… alles, was eine API 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40400"/>
            <a:ext cx="9652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A60"/>
                </a:solidFill>
                <a:latin typeface="Liter"/>
              </a:rPr>
              <a:t>Grundsatz: Gib dem Agenten nur die Werkzeuge, die er für die Aufgabe wirklich braucht.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06600"/>
            <a:ext cx="177800" cy="1778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0000" y="1981200"/>
            <a:ext cx="6350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06 / 07 — MEDIEN-MODELLE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13000"/>
            <a:ext cx="5588000" cy="812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5000" b="1">
                <a:solidFill>
                  <a:srgbClr val="1C1B18"/>
                </a:solidFill>
                <a:latin typeface="Liter"/>
              </a:rPr>
              <a:t>Medien-Modelle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03600"/>
            <a:ext cx="5080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6A60"/>
                </a:solidFill>
                <a:latin typeface="Liter"/>
              </a:rPr>
              <a:t>Spezialisten für Pixel und Schall: Bild-, Video- und Audio-Modelle setzen Text in sinnliche Ergebnisse um.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67200"/>
            <a:ext cx="5080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70400"/>
            <a:ext cx="508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0" spc="150">
                <a:solidFill>
                  <a:srgbClr val="6E6A60"/>
                </a:solidFill>
                <a:latin typeface="JetBrains Mono"/>
              </a:rPr>
              <a:t>BILD · VIDEO · AUDIO</a:t>
            </a:r>
          </a:p>
        </p:txBody>
      </p:sp>
      <p:pic>
        <p:nvPicPr>
          <p:cNvPr id="8" name="Picture 7" descr="b6_medi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19200"/>
            <a:ext cx="4419600" cy="441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11200"/>
            <a:ext cx="889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6 — MEDIEN-MODELLE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16000"/>
            <a:ext cx="10160000" cy="508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1C1B18"/>
                </a:solidFill>
                <a:latin typeface="Liter"/>
              </a:rPr>
              <a:t>Bild, Video, Audio: eigene Modellwelten.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01800"/>
            <a:ext cx="762000" cy="254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06600"/>
            <a:ext cx="9652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5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Für Bilder, Videos und Stimmen gibt es spezialisierte Modelle. Werkzeuge rufen sie auf — auch hier holen offene Alternativen auf.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1200" y="2819400"/>
            <a:ext cx="12700" cy="26670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2819400"/>
            <a:ext cx="12700" cy="26670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19400"/>
            <a:ext cx="2540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D9500B"/>
                </a:solidFill>
                <a:latin typeface="Liter"/>
              </a:rPr>
              <a:t>BILD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75000"/>
            <a:ext cx="3302000" cy="2159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GPT Image 2 — OpenAI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Midjourney V8.2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FLUX.2 — offen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Imagen 4 — Google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6E6A60"/>
                </a:solidFill>
                <a:latin typeface="Liter"/>
              </a:rPr>
              <a:t>Ideogram · Recraft · Seedream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8400" y="2819400"/>
            <a:ext cx="2540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D9500B"/>
                </a:solidFill>
                <a:latin typeface="Liter"/>
              </a:rP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8400" y="3175000"/>
            <a:ext cx="2921000" cy="2159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Veo 3.1 — Google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Kling 3.0 — Kuaishou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Seedance 2.5 — ByteDance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Wan 3.0 — offen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6E6A60"/>
                </a:solidFill>
                <a:latin typeface="Liter"/>
              </a:rPr>
              <a:t>Runway · Luma · Higgsfield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5200" y="2819400"/>
            <a:ext cx="2540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D9500B"/>
                </a:solidFill>
                <a:latin typeface="Liter"/>
              </a:rPr>
              <a:t>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5200" y="3175000"/>
            <a:ext cx="2921000" cy="2159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ElevenLabs Eleven v3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Suno v5.5 — Musik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Stable Audio 3 — offen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Whisper — offen (STT)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6E6A60"/>
                </a:solidFill>
                <a:latin typeface="Liter"/>
              </a:rPr>
              <a:t>Kokoro · Voxtral — offen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16600"/>
            <a:ext cx="9652000" cy="254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A60"/>
                </a:solidFill>
                <a:latin typeface="Liter"/>
              </a:rPr>
              <a:t>Gemerkt: Der Agent schreibt das Skript — diese Modelle setzen es in Pixel und Schall um.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06600"/>
            <a:ext cx="177800" cy="1778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70000" y="1981200"/>
            <a:ext cx="6350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07 / 07 — DESIGN-TOOLS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13000"/>
            <a:ext cx="5588000" cy="812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5000" b="1">
                <a:solidFill>
                  <a:srgbClr val="1C1B18"/>
                </a:solidFill>
                <a:latin typeface="Liter"/>
              </a:rPr>
              <a:t>Design-Tools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03600"/>
            <a:ext cx="5080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6A60"/>
                </a:solidFill>
                <a:latin typeface="Liter"/>
              </a:rPr>
              <a:t>Vom Prompt zur Oberfläche: Diese Werkzeuge erzeugen Interfaces und Prototypen — per MCP direkt aus dem Agenten.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67200"/>
            <a:ext cx="5080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70400"/>
            <a:ext cx="508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0" spc="150">
                <a:solidFill>
                  <a:srgbClr val="6E6A60"/>
                </a:solidFill>
                <a:latin typeface="JetBrains Mono"/>
              </a:rPr>
              <a:t>FIGMA · PENPOT · APP-GENERATOREN</a:t>
            </a:r>
          </a:p>
        </p:txBody>
      </p:sp>
      <p:pic>
        <p:nvPicPr>
          <p:cNvPr id="8" name="Picture 7" descr="b7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19200"/>
            <a:ext cx="4419600" cy="441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11200"/>
            <a:ext cx="889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BAUSTEIN 7 — DESIGN-TOOLS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16000"/>
            <a:ext cx="10160000" cy="508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1C1B18"/>
                </a:solidFill>
                <a:latin typeface="Liter"/>
              </a:rPr>
              <a:t>Vom Prompt zur Oberfläche.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01800"/>
            <a:ext cx="762000" cy="254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0" y="3810000"/>
            <a:ext cx="2794000" cy="241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7000" b="1">
                <a:solidFill>
                  <a:srgbClr val="E9E4D6"/>
                </a:solidFill>
                <a:latin typeface="Liter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81280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5000"/>
              </a:lnSpc>
            </a:pPr>
            <a:r>
              <a:rPr sz="1500" b="0">
                <a:solidFill>
                  <a:srgbClr val="1C1B18"/>
                </a:solidFill>
                <a:latin typeface="Liter"/>
              </a:rPr>
              <a:t>Diese Werkzeuge erzeugen Interfaces und App-Prototypen aus Text. </a:t>
            </a:r>
            <a:r>
              <a:rPr sz="1500" b="1">
                <a:solidFill>
                  <a:srgbClr val="1C1B18"/>
                </a:solidFill>
                <a:latin typeface="Liter"/>
              </a:rPr>
              <a:t>Agenten lesen und verändern die Designs per MCP</a:t>
            </a:r>
            <a:r>
              <a:rPr sz="1500" b="0">
                <a:solidFill>
                  <a:srgbClr val="1C1B18"/>
                </a:solidFill>
                <a:latin typeface="Liter"/>
              </a:rPr>
              <a:t> — Design und Code sprechen direkt miteinander.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4826000" cy="2159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Figma — Standard, mit Make + MCP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pencil.dev — KI-nativ, MCP-gesteuert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Penpot — die offene Alternative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Antigravity 2.0 — Googles Agenten-IDE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3200400"/>
            <a:ext cx="4826000" cy="2159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Google Stitch — Skizze wird UI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v0 — Vercel · Lovable · Bolt.new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1C1B18"/>
                </a:solidFill>
                <a:latin typeface="Liter"/>
              </a:rPr>
              <a:t>Onlook — Editor auf echtem Code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6E6A60"/>
                </a:solidFill>
                <a:latin typeface="Liter"/>
              </a:rPr>
              <a:t>u. a. Claude Design, Uizard, Relume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40400"/>
            <a:ext cx="9652000" cy="254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A60"/>
                </a:solidFill>
                <a:latin typeface="Liter"/>
              </a:rPr>
              <a:t>Gemerkt: Design ist kein Endprodukt mehr — es ist der Anfang des Codes.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11200"/>
            <a:ext cx="8890000" cy="2032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00" b="0" spc="200">
                <a:solidFill>
                  <a:srgbClr val="D9500B"/>
                </a:solidFill>
                <a:latin typeface="JetBrains Mono"/>
              </a:rPr>
              <a:t>ZUM MITNEHMEN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16000"/>
            <a:ext cx="10160000" cy="508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000" b="1">
                <a:solidFill>
                  <a:srgbClr val="1C1B18"/>
                </a:solidFill>
                <a:latin typeface="Liter"/>
              </a:rPr>
              <a:t>Fünf Regeln für den Anfang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01800"/>
            <a:ext cx="762000" cy="254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33600"/>
            <a:ext cx="558800" cy="304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0" b="0">
                <a:solidFill>
                  <a:srgbClr val="D9500B"/>
                </a:solidFill>
                <a:latin typeface="JetBrains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2108200"/>
            <a:ext cx="9398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00" b="1">
                <a:solidFill>
                  <a:srgbClr val="1C1B18"/>
                </a:solidFill>
                <a:latin typeface="Liter"/>
              </a:rPr>
              <a:t>Beginne klein.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5600" y="2413000"/>
            <a:ext cx="9398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A60"/>
                </a:solidFill>
                <a:latin typeface="Liter"/>
              </a:rPr>
              <a:t>Ein Modell, ein Werkzeug, eine echte Aufgabe — mehr braucht es nicht.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5600" y="2819400"/>
            <a:ext cx="9652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97200"/>
            <a:ext cx="558800" cy="304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0" b="0">
                <a:solidFill>
                  <a:srgbClr val="D9500B"/>
                </a:solidFill>
                <a:latin typeface="JetBrains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971800"/>
            <a:ext cx="9398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00" b="1">
                <a:solidFill>
                  <a:srgbClr val="1C1B18"/>
                </a:solidFill>
                <a:latin typeface="Liter"/>
              </a:rPr>
              <a:t>Prüfe jede wichtige Ausgabe.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5600" y="3276600"/>
            <a:ext cx="9398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A60"/>
                </a:solidFill>
                <a:latin typeface="Liter"/>
              </a:rPr>
              <a:t>Modelle erfinden Fakten und APIs — selbst die besten.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5600" y="3683000"/>
            <a:ext cx="9652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0800"/>
            <a:ext cx="558800" cy="304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0" b="0">
                <a:solidFill>
                  <a:srgbClr val="D9500B"/>
                </a:solidFill>
                <a:latin typeface="JetBrain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5600" y="3835400"/>
            <a:ext cx="9398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00" b="1">
                <a:solidFill>
                  <a:srgbClr val="1C1B18"/>
                </a:solidFill>
                <a:latin typeface="Liter"/>
              </a:rPr>
              <a:t>Gib minimale Rechte.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5600" y="4140200"/>
            <a:ext cx="9398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A60"/>
                </a:solidFill>
                <a:latin typeface="Liter"/>
              </a:rPr>
              <a:t>Destruktive Aktionen nur mit Freigabe — und nur vertrauenswürdige MCP-Server.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25600" y="4546600"/>
            <a:ext cx="9652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24400"/>
            <a:ext cx="558800" cy="304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0" b="0">
                <a:solidFill>
                  <a:srgbClr val="D9500B"/>
                </a:solidFill>
                <a:latin typeface="JetBrains Mon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5600" y="4699000"/>
            <a:ext cx="9398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00" b="1">
                <a:solidFill>
                  <a:srgbClr val="1C1B18"/>
                </a:solidFill>
                <a:latin typeface="Liter"/>
              </a:rPr>
              <a:t>Setze auf offene Standards.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5600" y="5003800"/>
            <a:ext cx="9398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A60"/>
                </a:solidFill>
                <a:latin typeface="Liter"/>
              </a:rPr>
              <a:t>MCP und Skills machen Werkzeuge portabel — du bleibst unabhängig.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25600" y="5410200"/>
            <a:ext cx="96520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88000"/>
            <a:ext cx="558800" cy="304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00" b="0">
                <a:solidFill>
                  <a:srgbClr val="D9500B"/>
                </a:solidFill>
                <a:latin typeface="JetBrains Mono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5600" y="5562600"/>
            <a:ext cx="9398000" cy="279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600" b="1">
                <a:solidFill>
                  <a:srgbClr val="1C1B18"/>
                </a:solidFill>
                <a:latin typeface="Liter"/>
              </a:rPr>
              <a:t>Behalte die Kosten im Blick.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5600" y="5867400"/>
            <a:ext cx="9398000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A60"/>
                </a:solidFill>
                <a:latin typeface="Liter"/>
              </a:rPr>
              <a:t>Jede Agenten-Runde verbraucht Tokens — Budgets setzen, kleine Modelle für Kleines.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524000"/>
            <a:ext cx="177800" cy="177800"/>
          </a:xfrm>
          <a:prstGeom prst="rect">
            <a:avLst/>
          </a:prstGeom>
          <a:solidFill>
            <a:srgbClr val="D95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59000"/>
            <a:ext cx="10160000" cy="114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5400" b="1">
                <a:solidFill>
                  <a:srgbClr val="1C1B18"/>
                </a:solidFill>
                <a:latin typeface="Liter"/>
              </a:rPr>
              <a:t>„Weniger, aber besser.“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54400"/>
            <a:ext cx="5080000" cy="254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6A60"/>
                </a:solidFill>
                <a:latin typeface="Liter"/>
              </a:rPr>
              <a:t>— Dieter 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91000"/>
            <a:ext cx="8890000" cy="889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70000"/>
              </a:lnSpc>
            </a:pPr>
            <a:r>
              <a:rPr sz="1600" b="0">
                <a:solidFill>
                  <a:srgbClr val="1C1B18"/>
                </a:solidFill>
                <a:latin typeface="Liter"/>
              </a:rPr>
              <a:t>Das gilt auch hier: Ein gut gewähltes Werkzeug schlägt zehn halb verstandene. </a:t>
            </a:r>
            <a:r>
              <a:rPr sz="1600" b="0">
                <a:solidFill>
                  <a:srgbClr val="6E6A60"/>
                </a:solidFill>
                <a:latin typeface="Liter"/>
              </a:rPr>
              <a:t>Fang an — mit einem Modell, einem Werkzeug, einer echten Aufgabe.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842000"/>
            <a:ext cx="10363200" cy="12700"/>
          </a:xfrm>
          <a:prstGeom prst="rect">
            <a:avLst/>
          </a:prstGeom>
          <a:solidFill>
            <a:srgbClr val="DAD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45200"/>
            <a:ext cx="88900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00" b="0" spc="150">
                <a:solidFill>
                  <a:srgbClr val="6E6A60"/>
                </a:solidFill>
                <a:latin typeface="JetBrains Mono"/>
              </a:rPr>
              <a:t>DIE KI-AGENTEN-LANDSCHAFT · STAND AUGUST 2026 · ZUM WEITERBAUEN GEDACHT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7200" y="6426200"/>
            <a:ext cx="660400" cy="177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1000" b="0" spc="150">
                <a:solidFill>
                  <a:srgbClr val="6E6A60"/>
                </a:solidFill>
                <a:latin typeface="JetBrains Mono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KI-Agenten-Landschaft — ein Überblick für Einsteiger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